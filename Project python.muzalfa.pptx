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16"/>
  </p:notesMasterIdLst>
  <p:sldIdLst>
    <p:sldId id="256" r:id="rId2"/>
    <p:sldId id="267" r:id="rId3"/>
    <p:sldId id="257" r:id="rId4"/>
    <p:sldId id="264" r:id="rId5"/>
    <p:sldId id="258" r:id="rId6"/>
    <p:sldId id="263" r:id="rId7"/>
    <p:sldId id="269" r:id="rId8"/>
    <p:sldId id="270" r:id="rId9"/>
    <p:sldId id="272" r:id="rId10"/>
    <p:sldId id="271" r:id="rId11"/>
    <p:sldId id="273" r:id="rId12"/>
    <p:sldId id="262" r:id="rId13"/>
    <p:sldId id="26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AE548-D619-4D16-8221-88871993BE2A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8CC1B-60F5-450A-9D46-D9C75914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9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C1B-60F5-450A-9D46-D9C7591477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62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590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80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625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84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20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7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38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33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54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96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2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02B9DC0-DC56-4620-8411-66BC423BEA0E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39DE73F-5BA8-457B-869D-7E64B2C3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7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.stackoverflow.com/questions/259917/how-does-meta-stack-overflow-work" TargetMode="External"/><Relationship Id="rId2" Type="http://schemas.openxmlformats.org/officeDocument/2006/relationships/hyperlink" Target="https://stackoverflow.com/question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users" TargetMode="External"/><Relationship Id="rId2" Type="http://schemas.openxmlformats.org/officeDocument/2006/relationships/hyperlink" Target="https://stackoverflow.com/jobs/companies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AA5C-CF8E-1D5A-D936-9375ED925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1757723"/>
          </a:xfrm>
        </p:spPr>
        <p:txBody>
          <a:bodyPr>
            <a:normAutofit/>
          </a:bodyPr>
          <a:lstStyle/>
          <a:p>
            <a:r>
              <a:rPr lang="en-US" sz="4400" cap="none" dirty="0"/>
              <a:t>Web Scraping Data From </a:t>
            </a:r>
            <a:br>
              <a:rPr lang="en-US" sz="4400" cap="none" dirty="0"/>
            </a:br>
            <a:r>
              <a:rPr lang="en-US" sz="4400" cap="none" dirty="0"/>
              <a:t>Stack Overflow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3DEE39-9850-9C71-9C81-39D6D486A52E}"/>
              </a:ext>
            </a:extLst>
          </p:cNvPr>
          <p:cNvSpPr/>
          <p:nvPr/>
        </p:nvSpPr>
        <p:spPr>
          <a:xfrm>
            <a:off x="6602818" y="4630639"/>
            <a:ext cx="424012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Muzalfa</a:t>
            </a:r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BiBi</a:t>
            </a:r>
          </a:p>
        </p:txBody>
      </p:sp>
    </p:spTree>
    <p:extLst>
      <p:ext uri="{BB962C8B-B14F-4D97-AF65-F5344CB8AC3E}">
        <p14:creationId xmlns:p14="http://schemas.microsoft.com/office/powerpoint/2010/main" val="2544475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DA09-3773-CB8C-0553-668616048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Stack Overflow?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62BEF8-B556-5170-9DD8-B881DB79FE0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66800" y="2727299"/>
            <a:ext cx="6423553" cy="250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Stack Overflow is a question-and-answer website for computer programmers.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It is the flagship site of the Stack Exchange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It was created in 2008 by Jeff Atwood and Joel </a:t>
            </a:r>
            <a:r>
              <a:rPr lang="en-US" sz="14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Spolsky</a:t>
            </a:r>
            <a:r>
              <a:rPr lang="en-US" sz="14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It features questions and answers on certain computer programming topics.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r>
              <a:rPr lang="en-US" sz="2000" b="1" dirty="0"/>
              <a:t>Website Link: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Stack Overflow.com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  <a:r>
              <a:rPr lang="en-US" sz="2000" b="0" i="0" u="none" strike="noStrike" dirty="0"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3"/>
              </a:rPr>
              <a:t>meta.stackoverflow.com</a:t>
            </a: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D8043F-FD0E-1FCA-56DE-658CA85023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754092" y="2618316"/>
            <a:ext cx="2507507" cy="2000548"/>
          </a:xfrm>
        </p:spPr>
      </p:pic>
    </p:spTree>
    <p:extLst>
      <p:ext uri="{BB962C8B-B14F-4D97-AF65-F5344CB8AC3E}">
        <p14:creationId xmlns:p14="http://schemas.microsoft.com/office/powerpoint/2010/main" val="3612282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2369-B1EE-09C5-F0C8-B8E41E4C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31E83-A2E3-14A2-BDBC-D4C9676A70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buFont typeface="Wingdings" panose="05000000000000000000" pitchFamily="2" charset="2"/>
              <a:buChar char="q"/>
            </a:pPr>
            <a:r>
              <a:rPr lang="en-US" b="1" dirty="0"/>
              <a:t> Fetch URLs:</a:t>
            </a:r>
          </a:p>
          <a:p>
            <a:r>
              <a:rPr lang="en-US" b="1" dirty="0"/>
              <a:t>Company Data: </a:t>
            </a:r>
            <a:r>
              <a:rPr lang="en-US" b="1" dirty="0">
                <a:hlinkClick r:id="rId2"/>
              </a:rPr>
              <a:t>https://stackoverflow.com/jobs/companies</a:t>
            </a:r>
            <a:endParaRPr lang="en-US" b="1" dirty="0"/>
          </a:p>
          <a:p>
            <a:r>
              <a:rPr lang="en-US" b="1" dirty="0"/>
              <a:t>User Data: </a:t>
            </a:r>
            <a:r>
              <a:rPr lang="en-US" b="1" dirty="0">
                <a:hlinkClick r:id="rId3"/>
              </a:rPr>
              <a:t>https://stackoverflow.com/users</a:t>
            </a:r>
            <a:endParaRPr lang="en-US" b="1" dirty="0"/>
          </a:p>
          <a:p>
            <a:r>
              <a:rPr lang="en-US" b="1" dirty="0"/>
              <a:t>Extract Data Categories:</a:t>
            </a:r>
          </a:p>
          <a:p>
            <a:r>
              <a:rPr lang="en-US" dirty="0"/>
              <a:t>Images, Headings, Items, Paragraphs, Jobs, User Data </a:t>
            </a:r>
          </a:p>
          <a:p>
            <a:r>
              <a:rPr lang="en-US" b="1" dirty="0"/>
              <a:t>Save Data:</a:t>
            </a:r>
          </a:p>
          <a:p>
            <a:r>
              <a:rPr lang="en-US" dirty="0"/>
              <a:t>Each category saved into a separate text file on the desktop.</a:t>
            </a:r>
          </a:p>
          <a:p>
            <a:r>
              <a:rPr lang="en-US" b="1" dirty="0"/>
              <a:t>Download Images:</a:t>
            </a:r>
          </a:p>
          <a:p>
            <a:r>
              <a:rPr lang="en-US" dirty="0"/>
              <a:t>Image URLs processed and images saved in a dedicated folder.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39E8AF-B2D7-E1EC-42F6-7866AEC7D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578" y="2454236"/>
            <a:ext cx="3078968" cy="14859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6D343D-70F5-26B2-FA8C-AC35C7B3E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4835" y="4256454"/>
            <a:ext cx="3130711" cy="14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70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66638-9E85-E496-0E48-6C9DD2F8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27E77-7428-74DC-42A5-8A8956B9C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466366"/>
            <a:ext cx="4754880" cy="3749040"/>
          </a:xfrm>
        </p:spPr>
        <p:txBody>
          <a:bodyPr/>
          <a:lstStyle/>
          <a:p>
            <a:r>
              <a:rPr lang="en-US" b="1" dirty="0"/>
              <a:t>Extract Data: </a:t>
            </a:r>
          </a:p>
          <a:p>
            <a:r>
              <a:rPr lang="en-US" dirty="0"/>
              <a:t>Gather specific information from Stack Overflow's job and user pages.</a:t>
            </a:r>
          </a:p>
          <a:p>
            <a:r>
              <a:rPr lang="en-US" b="1" dirty="0"/>
              <a:t>Store Data: </a:t>
            </a:r>
          </a:p>
          <a:p>
            <a:r>
              <a:rPr lang="en-US" dirty="0"/>
              <a:t>Save extracted data into separate text files.</a:t>
            </a:r>
          </a:p>
          <a:p>
            <a:r>
              <a:rPr lang="en-US" b="1" dirty="0"/>
              <a:t>Download Images:</a:t>
            </a:r>
            <a:r>
              <a:rPr lang="en-US" dirty="0"/>
              <a:t> </a:t>
            </a:r>
          </a:p>
          <a:p>
            <a:r>
              <a:rPr lang="en-US" dirty="0"/>
              <a:t>Fetch and save images locally.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0E1DE-3C42-0C44-6B9E-EA19F552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589" y="2287510"/>
            <a:ext cx="3707374" cy="219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9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8ED6-3778-C92F-2444-06BE32C7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Tools and Libraries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E20F28-4217-179B-2A10-459D7FD87AF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41400" y="2828837"/>
            <a:ext cx="686162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 used for development.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Library for handling HTTP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Library for parsing HTML and XML documents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B238B-E0A2-A758-B7AE-08C76F8771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41ECF-64D7-B585-7644-24B3522E1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769" y="3620386"/>
            <a:ext cx="2552831" cy="98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38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8306-7C02-B3A5-7493-7E1F095A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91241"/>
            <a:ext cx="10058400" cy="1371600"/>
          </a:xfrm>
        </p:spPr>
        <p:txBody>
          <a:bodyPr/>
          <a:lstStyle/>
          <a:p>
            <a:r>
              <a:rPr lang="en-US" dirty="0"/>
              <a:t>Fetching Content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94F6040-E64A-F8BC-30A9-A7DDE3BB958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970451" y="2612893"/>
            <a:ext cx="603242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.“user_response” is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fetch data from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1.“requests”is 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library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2.“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user_url</a:t>
            </a:r>
            <a:r>
              <a:rPr lang="en-US" altLang="en-US" sz="2000" dirty="0">
                <a:latin typeface="Arial Unicode MS"/>
              </a:rPr>
              <a:t>” is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to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sacrap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3.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user_soup</a:t>
            </a:r>
            <a:r>
              <a:rPr lang="en-US" altLang="en-US" sz="2000" dirty="0">
                <a:latin typeface="Arial Unicode MS"/>
              </a:rPr>
              <a:t>” is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4.Fetch data, parse HTML, extract data categories,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to files, download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5.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handling included for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6.See detailed code example in the report.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5B99B-C49F-19C8-17C0-835DFB7876C2}"/>
              </a:ext>
            </a:extLst>
          </p:cNvPr>
          <p:cNvSpPr txBox="1"/>
          <p:nvPr/>
        </p:nvSpPr>
        <p:spPr>
          <a:xfrm>
            <a:off x="1066800" y="2504740"/>
            <a:ext cx="3531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Code:</a:t>
            </a:r>
          </a:p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Fetch data from company: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4ED92D-40EA-EC62-2DD8-46B83CFFE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96" y="4537169"/>
            <a:ext cx="4667490" cy="12150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C84F23-490A-604D-4A3E-7E817E892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961" y="3151071"/>
            <a:ext cx="4667490" cy="8177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F35C69-4373-F224-D471-A5DAA344BC90}"/>
              </a:ext>
            </a:extLst>
          </p:cNvPr>
          <p:cNvSpPr txBox="1"/>
          <p:nvPr/>
        </p:nvSpPr>
        <p:spPr>
          <a:xfrm>
            <a:off x="1281696" y="4104057"/>
            <a:ext cx="3417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Fetch data from user: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31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1EB4B-E9C9-A35C-785D-C6F7BE1A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Save heading and </a:t>
            </a:r>
            <a:r>
              <a:rPr lang="en-US" dirty="0" err="1"/>
              <a:t>jods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9EFBA0-9417-0AC8-15E0-AA189E8B18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419" y="2705100"/>
            <a:ext cx="1939072" cy="2754313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4E01C9-A6E5-CFAF-691C-38F3D37088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5772" y="5828746"/>
            <a:ext cx="4754562" cy="24244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0B904D-9E5C-084C-0D8D-B7E1C25A3591}"/>
              </a:ext>
            </a:extLst>
          </p:cNvPr>
          <p:cNvSpPr txBox="1"/>
          <p:nvPr/>
        </p:nvSpPr>
        <p:spPr>
          <a:xfrm>
            <a:off x="265814" y="2335768"/>
            <a:ext cx="281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Save </a:t>
            </a:r>
            <a:r>
              <a:rPr lang="en-US" dirty="0"/>
              <a:t>heading </a:t>
            </a:r>
            <a:r>
              <a:rPr lang="en-US" b="1" dirty="0"/>
              <a:t>in </a:t>
            </a: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File 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522BF-11A2-FE95-CEFE-F92AADFEBC97}"/>
              </a:ext>
            </a:extLst>
          </p:cNvPr>
          <p:cNvSpPr txBox="1"/>
          <p:nvPr/>
        </p:nvSpPr>
        <p:spPr>
          <a:xfrm>
            <a:off x="-74428" y="5459413"/>
            <a:ext cx="185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code </a:t>
            </a: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C0658B-A051-9B89-9A65-8C66EF55A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811" y="2705100"/>
            <a:ext cx="1987652" cy="24729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E0626F-AD90-0D0F-2BB2-D42A7D9A34CA}"/>
              </a:ext>
            </a:extLst>
          </p:cNvPr>
          <p:cNvSpPr txBox="1"/>
          <p:nvPr/>
        </p:nvSpPr>
        <p:spPr>
          <a:xfrm>
            <a:off x="6465120" y="2176797"/>
            <a:ext cx="281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Save </a:t>
            </a:r>
            <a:r>
              <a:rPr lang="en-US" dirty="0"/>
              <a:t>jobs </a:t>
            </a:r>
            <a:r>
              <a:rPr lang="en-US" b="1" dirty="0"/>
              <a:t>in </a:t>
            </a: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File 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05394B-BD1F-8A1D-B099-952F4BE5FC1A}"/>
              </a:ext>
            </a:extLst>
          </p:cNvPr>
          <p:cNvSpPr txBox="1"/>
          <p:nvPr/>
        </p:nvSpPr>
        <p:spPr>
          <a:xfrm>
            <a:off x="5830187" y="5152361"/>
            <a:ext cx="281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 code</a:t>
            </a: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66C34D-B0A7-E8DC-0968-D0910381E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914" y="5644079"/>
            <a:ext cx="4972490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92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06A5-131D-7921-89B1-FDA4888F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Save items and paragraph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E9FC7D-B875-9401-C3FE-25F723D367D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59489" y="2527677"/>
            <a:ext cx="8691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28A96B-AF8E-73CF-E58C-300E1F7937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3451" y="3823507"/>
            <a:ext cx="3434332" cy="258792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94B3E1-BFB9-EBAD-B623-3322E62E2A2C}"/>
              </a:ext>
            </a:extLst>
          </p:cNvPr>
          <p:cNvSpPr txBox="1"/>
          <p:nvPr/>
        </p:nvSpPr>
        <p:spPr>
          <a:xfrm>
            <a:off x="6096000" y="2558455"/>
            <a:ext cx="113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Code: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1EAA4-7CE1-C4C1-C61D-0A99AEA31248}"/>
              </a:ext>
            </a:extLst>
          </p:cNvPr>
          <p:cNvSpPr txBox="1"/>
          <p:nvPr/>
        </p:nvSpPr>
        <p:spPr>
          <a:xfrm>
            <a:off x="6096000" y="3454174"/>
            <a:ext cx="2410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Save items</a:t>
            </a:r>
            <a:r>
              <a:rPr lang="en-US" b="1" dirty="0"/>
              <a:t> in </a:t>
            </a: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File 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18E777-5FD8-6489-A125-EBA7D2D03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23" y="3084665"/>
            <a:ext cx="5246481" cy="3695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AD6BF9-F179-39E3-38AB-C32C165B8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64" y="3795442"/>
            <a:ext cx="3378374" cy="25879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E77AB3-BD98-9E1A-3E7B-8C53799B3D9E}"/>
              </a:ext>
            </a:extLst>
          </p:cNvPr>
          <p:cNvSpPr txBox="1"/>
          <p:nvPr/>
        </p:nvSpPr>
        <p:spPr>
          <a:xfrm>
            <a:off x="-1277695" y="345417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Save paragraph</a:t>
            </a:r>
            <a:r>
              <a:rPr lang="en-US" b="1" dirty="0"/>
              <a:t> in </a:t>
            </a: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File 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6260E9-50E5-DDFD-3BF1-B192B5C4C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96" y="3040334"/>
            <a:ext cx="5514920" cy="3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0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7BA23-310A-D2F2-D773-983C53FB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Save users data: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34F86-74C4-EDD1-C8DF-BEDA597440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3AD6C-96BE-115A-A648-C1F3431162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Save in file of users data: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5ACC4-18AE-A292-FC23-D6775F0CA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0" y="2747408"/>
            <a:ext cx="5612770" cy="3615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E21F3E-9D6D-4E01-A473-9F1535AA4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570" y="2494115"/>
            <a:ext cx="4343623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92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987D-8A6F-35E6-335A-42CE74E4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Saving and Download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714BF-7A4F-0A6B-A242-9189771FCEDB}"/>
              </a:ext>
            </a:extLst>
          </p:cNvPr>
          <p:cNvSpPr txBox="1"/>
          <p:nvPr/>
        </p:nvSpPr>
        <p:spPr>
          <a:xfrm>
            <a:off x="6294475" y="2622251"/>
            <a:ext cx="113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Code: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E4884-6687-BF42-3146-D9CB58CB6505}"/>
              </a:ext>
            </a:extLst>
          </p:cNvPr>
          <p:cNvSpPr txBox="1"/>
          <p:nvPr/>
        </p:nvSpPr>
        <p:spPr>
          <a:xfrm>
            <a:off x="255616" y="2622251"/>
            <a:ext cx="3157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Save images</a:t>
            </a:r>
            <a:r>
              <a:rPr lang="en-US" b="1" dirty="0"/>
              <a:t> in </a:t>
            </a: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File :</a:t>
            </a:r>
            <a:endParaRPr lang="en-US" sz="18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396036-017C-0896-F6F7-F90D4C0D9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505" y="2991583"/>
            <a:ext cx="5372376" cy="34672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A68663-B6E8-9D0C-900A-63DD80948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58" y="3121175"/>
            <a:ext cx="5014782" cy="269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1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B149-C446-0DB8-2DF9-AB9222B5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F64AB1-6CDF-5027-635F-8FC2B314A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kern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kern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kern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kern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kern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Handling empty or missing fields in the job postings. 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Ensuring the directory exists before saving the file. </a:t>
            </a:r>
          </a:p>
          <a:p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Verifying the successful retrieval of the webpage content.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14A3D6-CC44-88C7-043C-6DD2F647B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185" y="2181425"/>
            <a:ext cx="2557440" cy="146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07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C9E5-AD76-8572-06E5-7131B4B4C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858"/>
            <a:ext cx="10058400" cy="1174222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C5765C-86D8-B5CE-D94E-7BF61151FB8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66800" y="3439032"/>
            <a:ext cx="577914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Execution: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extracted and saved correctly.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 Created: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files on desktop with extracted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 Downloaded: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 saved in a folder on desktop.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1CC42D-66A5-332A-CACE-D8A64B75C9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02362" y="2785730"/>
            <a:ext cx="2470438" cy="188932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526865-CF87-807C-C723-930F6F221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637" y="4516249"/>
            <a:ext cx="6178868" cy="9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04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ABC3-C446-57BF-1CDD-F8FAB98C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F2ED75-919B-5AFF-B177-759EFF7C08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6047" y="2505670"/>
            <a:ext cx="876297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Achievements: Met project objectives of data extraction and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 Extend project to include more data categories or additional websites.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4E7E6-40D3-29DB-B13C-E94C84F6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678" y="3920476"/>
            <a:ext cx="4159647" cy="18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93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D13582-9AFD-2554-0246-EC934E953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238" y="1109402"/>
            <a:ext cx="6060558" cy="397296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4115933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358</TotalTime>
  <Words>457</Words>
  <Application>Microsoft Office PowerPoint</Application>
  <PresentationFormat>Widescreen</PresentationFormat>
  <Paragraphs>83</Paragraphs>
  <Slides>14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</vt:lpstr>
      <vt:lpstr>Arial Unicode MS</vt:lpstr>
      <vt:lpstr>Calibri</vt:lpstr>
      <vt:lpstr>Corbel</vt:lpstr>
      <vt:lpstr>Roboto</vt:lpstr>
      <vt:lpstr>Times New Roman</vt:lpstr>
      <vt:lpstr>Wingdings</vt:lpstr>
      <vt:lpstr>Basis</vt:lpstr>
      <vt:lpstr>Web Scraping Data From  Stack Overflow</vt:lpstr>
      <vt:lpstr>What is Stack Overflow?</vt:lpstr>
      <vt:lpstr>Implementation Details</vt:lpstr>
      <vt:lpstr>Objectives</vt:lpstr>
      <vt:lpstr>Tools and Libraries</vt:lpstr>
      <vt:lpstr>Fetching Content</vt:lpstr>
      <vt:lpstr>Save heading and jods</vt:lpstr>
      <vt:lpstr>Save items and paragraph</vt:lpstr>
      <vt:lpstr>Save users data:</vt:lpstr>
      <vt:lpstr>Saving and Download Images</vt:lpstr>
      <vt:lpstr>Challenges </vt:lpstr>
      <vt:lpstr>Results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Rehman</dc:creator>
  <cp:lastModifiedBy>Abdul Rehman</cp:lastModifiedBy>
  <cp:revision>12</cp:revision>
  <dcterms:created xsi:type="dcterms:W3CDTF">2024-06-19T13:42:39Z</dcterms:created>
  <dcterms:modified xsi:type="dcterms:W3CDTF">2024-07-07T04:06:10Z</dcterms:modified>
</cp:coreProperties>
</file>